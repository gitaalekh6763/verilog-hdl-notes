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D6D2C-4607-4979-A52E-E7F87B0F8DF1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670D3-262D-43F7-8663-16A81B8DA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99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D6D2C-4607-4979-A52E-E7F87B0F8DF1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670D3-262D-43F7-8663-16A81B8DA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643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D6D2C-4607-4979-A52E-E7F87B0F8DF1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670D3-262D-43F7-8663-16A81B8DA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351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D6D2C-4607-4979-A52E-E7F87B0F8DF1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670D3-262D-43F7-8663-16A81B8DA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418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D6D2C-4607-4979-A52E-E7F87B0F8DF1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670D3-262D-43F7-8663-16A81B8DA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45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D6D2C-4607-4979-A52E-E7F87B0F8DF1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670D3-262D-43F7-8663-16A81B8DA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06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D6D2C-4607-4979-A52E-E7F87B0F8DF1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670D3-262D-43F7-8663-16A81B8DA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22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D6D2C-4607-4979-A52E-E7F87B0F8DF1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670D3-262D-43F7-8663-16A81B8DA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560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D6D2C-4607-4979-A52E-E7F87B0F8DF1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670D3-262D-43F7-8663-16A81B8DA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11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D6D2C-4607-4979-A52E-E7F87B0F8DF1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670D3-262D-43F7-8663-16A81B8DA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534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D6D2C-4607-4979-A52E-E7F87B0F8DF1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670D3-262D-43F7-8663-16A81B8DA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78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D6D2C-4607-4979-A52E-E7F87B0F8DF1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670D3-262D-43F7-8663-16A81B8DA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533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2716" y="224007"/>
            <a:ext cx="11646568" cy="626226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Lucida Console" panose="020B0609040504020204" pitchFamily="49" charset="0"/>
              </a:rPr>
              <a:t>Concept of Verilog “Module”</a:t>
            </a:r>
            <a:endParaRPr lang="en-IN" sz="3600" dirty="0">
              <a:latin typeface="Lucida Console" panose="020B0609040504020204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2716" y="1179679"/>
            <a:ext cx="5422232" cy="5333415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latin typeface="Lucida Console" panose="020B0609040504020204" pitchFamily="49" charset="0"/>
              </a:rPr>
              <a:t>In Verilog, the basic unit of hardware is called a </a:t>
            </a:r>
            <a:r>
              <a:rPr lang="en-US" sz="1800" b="1" dirty="0" smtClean="0">
                <a:latin typeface="Lucida Console" panose="020B0609040504020204" pitchFamily="49" charset="0"/>
              </a:rPr>
              <a:t>module.</a:t>
            </a:r>
          </a:p>
          <a:p>
            <a:pPr marL="342900" indent="-342900" algn="l">
              <a:buFontTx/>
              <a:buChar char="-"/>
            </a:pPr>
            <a:r>
              <a:rPr lang="en-US" sz="1800" dirty="0" smtClean="0">
                <a:latin typeface="Lucida Console" panose="020B0609040504020204" pitchFamily="49" charset="0"/>
              </a:rPr>
              <a:t>A module cannot contain definition of other modules.</a:t>
            </a:r>
          </a:p>
          <a:p>
            <a:pPr marL="342900" indent="-342900" algn="l">
              <a:buFontTx/>
              <a:buChar char="-"/>
            </a:pPr>
            <a:r>
              <a:rPr lang="en-US" sz="1800" dirty="0" smtClean="0">
                <a:latin typeface="Lucida Console" panose="020B0609040504020204" pitchFamily="49" charset="0"/>
              </a:rPr>
              <a:t>A module can, however, be instantiated within another module.</a:t>
            </a:r>
          </a:p>
          <a:p>
            <a:pPr marL="342900" indent="-342900" algn="l">
              <a:buFontTx/>
              <a:buChar char="-"/>
            </a:pPr>
            <a:r>
              <a:rPr lang="en-US" sz="1800" dirty="0" smtClean="0">
                <a:latin typeface="Lucida Console" panose="020B0609040504020204" pitchFamily="49" charset="0"/>
              </a:rPr>
              <a:t>Instantiation allows the creation of a hierarchy in Verilog description</a:t>
            </a:r>
          </a:p>
          <a:p>
            <a:pPr marL="342900" indent="-342900" algn="l">
              <a:buFontTx/>
              <a:buChar char="-"/>
            </a:pPr>
            <a:r>
              <a:rPr lang="en-US" sz="1800" dirty="0" smtClean="0">
                <a:latin typeface="Lucida Console" panose="020B0609040504020204" pitchFamily="49" charset="0"/>
              </a:rPr>
              <a:t>Instantiation refers to replacing instanced module with its actual code.</a:t>
            </a:r>
            <a:endParaRPr lang="en-IN" sz="18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24133" y="1179679"/>
            <a:ext cx="43857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module_name</a:t>
            </a:r>
            <a:r>
              <a:rPr lang="en-US" dirty="0" smtClean="0"/>
              <a:t>(</a:t>
            </a:r>
            <a:r>
              <a:rPr lang="en-US" dirty="0" err="1" smtClean="0"/>
              <a:t>list_of_ports</a:t>
            </a:r>
            <a:r>
              <a:rPr lang="en-US" dirty="0" smtClean="0"/>
              <a:t>);</a:t>
            </a:r>
          </a:p>
          <a:p>
            <a:r>
              <a:rPr lang="en-US" dirty="0"/>
              <a:t>	</a:t>
            </a:r>
            <a:r>
              <a:rPr lang="en-US" dirty="0" smtClean="0"/>
              <a:t>input/output declarations</a:t>
            </a:r>
          </a:p>
          <a:p>
            <a:r>
              <a:rPr lang="en-US" dirty="0"/>
              <a:t>	</a:t>
            </a:r>
            <a:r>
              <a:rPr lang="en-US" dirty="0" smtClean="0"/>
              <a:t>local net declarations</a:t>
            </a:r>
          </a:p>
          <a:p>
            <a:r>
              <a:rPr lang="en-US" dirty="0"/>
              <a:t>	</a:t>
            </a:r>
            <a:r>
              <a:rPr lang="en-US" dirty="0" smtClean="0"/>
              <a:t>Parallel statements</a:t>
            </a:r>
          </a:p>
          <a:p>
            <a:r>
              <a:rPr lang="en-US" dirty="0" err="1" smtClean="0"/>
              <a:t>endmodule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824133" y="2785086"/>
            <a:ext cx="4385734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// A simple AND function</a:t>
            </a:r>
          </a:p>
          <a:p>
            <a:r>
              <a:rPr lang="en-US" dirty="0" smtClean="0"/>
              <a:t>Module </a:t>
            </a:r>
            <a:r>
              <a:rPr lang="en-US" dirty="0" err="1" smtClean="0"/>
              <a:t>simpleAnd</a:t>
            </a:r>
            <a:r>
              <a:rPr lang="en-US" dirty="0" smtClean="0"/>
              <a:t> (</a:t>
            </a:r>
            <a:r>
              <a:rPr lang="en-US" dirty="0" err="1" smtClean="0"/>
              <a:t>f,x,y</a:t>
            </a:r>
            <a:r>
              <a:rPr lang="en-US" dirty="0" smtClean="0"/>
              <a:t>)</a:t>
            </a:r>
            <a:r>
              <a:rPr lang="en-IN" dirty="0" smtClean="0"/>
              <a:t>;</a:t>
            </a:r>
          </a:p>
          <a:p>
            <a:r>
              <a:rPr lang="en-US" dirty="0"/>
              <a:t>	</a:t>
            </a:r>
            <a:r>
              <a:rPr lang="en-US" dirty="0" smtClean="0"/>
              <a:t>input x, y;</a:t>
            </a:r>
          </a:p>
          <a:p>
            <a:r>
              <a:rPr lang="en-US" dirty="0"/>
              <a:t>	</a:t>
            </a:r>
            <a:r>
              <a:rPr lang="en-US" dirty="0" smtClean="0"/>
              <a:t>output f;</a:t>
            </a:r>
          </a:p>
          <a:p>
            <a:r>
              <a:rPr lang="en-US" dirty="0"/>
              <a:t>	</a:t>
            </a:r>
            <a:r>
              <a:rPr lang="en-US" dirty="0" smtClean="0"/>
              <a:t>assign f = x&amp; y;</a:t>
            </a:r>
          </a:p>
          <a:p>
            <a:r>
              <a:rPr lang="en-US" dirty="0" err="1" smtClean="0"/>
              <a:t>endmodule</a:t>
            </a:r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6824133" y="4667491"/>
            <a:ext cx="4966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listo MT" panose="02040603050505030304" pitchFamily="18" charset="0"/>
              </a:rPr>
              <a:t>This is a </a:t>
            </a:r>
            <a:r>
              <a:rPr lang="en-US" dirty="0" err="1" smtClean="0">
                <a:latin typeface="Calisto MT" panose="02040603050505030304" pitchFamily="18" charset="0"/>
              </a:rPr>
              <a:t>behavioural</a:t>
            </a:r>
            <a:r>
              <a:rPr lang="en-US" dirty="0" smtClean="0">
                <a:latin typeface="Calisto MT" panose="02040603050505030304" pitchFamily="18" charset="0"/>
              </a:rPr>
              <a:t> description. The synthesis tool will decide how to realize f:</a:t>
            </a:r>
          </a:p>
          <a:p>
            <a:pPr marL="342900" indent="-342900">
              <a:buAutoNum type="arabicPeriod"/>
            </a:pPr>
            <a:r>
              <a:rPr lang="en-US" dirty="0" smtClean="0">
                <a:latin typeface="Calisto MT" panose="02040603050505030304" pitchFamily="18" charset="0"/>
              </a:rPr>
              <a:t>Using a single AND gate</a:t>
            </a:r>
          </a:p>
          <a:p>
            <a:pPr marL="342900" indent="-342900">
              <a:buAutoNum type="arabicPeriod"/>
            </a:pPr>
            <a:r>
              <a:rPr lang="en-US" dirty="0" smtClean="0">
                <a:latin typeface="Calisto MT" panose="02040603050505030304" pitchFamily="18" charset="0"/>
              </a:rPr>
              <a:t>Using a NAND gate followed by a NOT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884" y="6365230"/>
            <a:ext cx="11518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 : Its easier to design/implement NAND, NOT and NOR gates in CMOS technology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623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346" y="690418"/>
            <a:ext cx="5598696" cy="5333415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>
                <a:latin typeface="Lucida Console" panose="020B0609040504020204" pitchFamily="49" charset="0"/>
              </a:rPr>
              <a:t>This is also behavioral description.</a:t>
            </a:r>
          </a:p>
          <a:p>
            <a:pPr marL="285750" indent="-285750" algn="just">
              <a:buFontTx/>
              <a:buChar char="-"/>
            </a:pPr>
            <a:r>
              <a:rPr lang="en-US" sz="1800" dirty="0" smtClean="0">
                <a:latin typeface="Lucida Console" panose="020B0609040504020204" pitchFamily="49" charset="0"/>
              </a:rPr>
              <a:t>One possible gate level realization is shown.</a:t>
            </a:r>
          </a:p>
          <a:p>
            <a:pPr marL="285750" indent="-285750" algn="just">
              <a:buFontTx/>
              <a:buChar char="-"/>
            </a:pPr>
            <a:r>
              <a:rPr lang="en-US" sz="1800" dirty="0" smtClean="0">
                <a:latin typeface="Lucida Console" panose="020B0609040504020204" pitchFamily="49" charset="0"/>
              </a:rPr>
              <a:t>T1 and t2 are intermediate lines, termed as wire data type.</a:t>
            </a:r>
          </a:p>
          <a:p>
            <a:pPr algn="just"/>
            <a:r>
              <a:rPr lang="en-US" sz="1800" b="1" dirty="0" smtClean="0">
                <a:latin typeface="Lucida Console" panose="020B0609040504020204" pitchFamily="49" charset="0"/>
              </a:rPr>
              <a:t>Point to note:</a:t>
            </a:r>
          </a:p>
          <a:p>
            <a:pPr algn="just"/>
            <a:r>
              <a:rPr lang="en-US" sz="1800" dirty="0" smtClean="0">
                <a:latin typeface="Lucida Console" panose="020B0609040504020204" pitchFamily="49" charset="0"/>
              </a:rPr>
              <a:t>The “assign” statement represent  continuous assignment (LHS gets updated whenever RHS changes)</a:t>
            </a:r>
          </a:p>
          <a:p>
            <a:pPr algn="just"/>
            <a:r>
              <a:rPr lang="en-US" sz="1800" dirty="0">
                <a:latin typeface="Lucida Console" panose="020B0609040504020204" pitchFamily="49" charset="0"/>
              </a:rPr>
              <a:t> </a:t>
            </a:r>
            <a:r>
              <a:rPr lang="en-US" sz="1800" dirty="0" smtClean="0">
                <a:latin typeface="Lucida Console" panose="020B0609040504020204" pitchFamily="49" charset="0"/>
              </a:rPr>
              <a:t>  </a:t>
            </a:r>
            <a:r>
              <a:rPr lang="en-US" sz="1800" i="1" dirty="0" smtClean="0">
                <a:latin typeface="Lucida Console" panose="020B0609040504020204" pitchFamily="49" charset="0"/>
              </a:rPr>
              <a:t>assign variable = expression;</a:t>
            </a:r>
          </a:p>
          <a:p>
            <a:pPr marL="285750" indent="-285750" algn="just">
              <a:buFontTx/>
              <a:buChar char="-"/>
            </a:pPr>
            <a:r>
              <a:rPr lang="en-US" sz="1800" dirty="0" smtClean="0">
                <a:latin typeface="Lucida Console" panose="020B0609040504020204" pitchFamily="49" charset="0"/>
              </a:rPr>
              <a:t>LHS must be a “net” type variable, typically a “wire”</a:t>
            </a:r>
          </a:p>
          <a:p>
            <a:pPr marL="285750" indent="-285750" algn="just">
              <a:buFontTx/>
              <a:buChar char="-"/>
            </a:pPr>
            <a:r>
              <a:rPr lang="en-US" sz="1800" dirty="0" smtClean="0">
                <a:latin typeface="Lucida Console" panose="020B0609040504020204" pitchFamily="49" charset="0"/>
              </a:rPr>
              <a:t>RHS can be both register and net.</a:t>
            </a:r>
          </a:p>
          <a:p>
            <a:pPr marL="285750" indent="-285750" algn="just">
              <a:buFontTx/>
              <a:buChar char="-"/>
            </a:pPr>
            <a:r>
              <a:rPr lang="en-US" sz="1800" dirty="0" smtClean="0">
                <a:latin typeface="Lucida Console" panose="020B0609040504020204" pitchFamily="49" charset="0"/>
              </a:rPr>
              <a:t>The “assign” typically used for model combinational circuits.</a:t>
            </a:r>
            <a:endParaRPr lang="en-US" sz="18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85606" y="690418"/>
            <a:ext cx="4385734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// A 2 – level combinational circuit</a:t>
            </a:r>
          </a:p>
          <a:p>
            <a:r>
              <a:rPr lang="en-US" dirty="0" smtClean="0"/>
              <a:t>Module </a:t>
            </a:r>
            <a:r>
              <a:rPr lang="en-US" dirty="0" err="1" smtClean="0"/>
              <a:t>two_level</a:t>
            </a:r>
            <a:r>
              <a:rPr lang="en-US" dirty="0" smtClean="0"/>
              <a:t> ( a, b, c, d, f);</a:t>
            </a:r>
          </a:p>
          <a:p>
            <a:r>
              <a:rPr lang="en-US" dirty="0"/>
              <a:t>	</a:t>
            </a:r>
            <a:r>
              <a:rPr lang="en-US" dirty="0" smtClean="0"/>
              <a:t>input a, b, c, d;</a:t>
            </a:r>
          </a:p>
          <a:p>
            <a:r>
              <a:rPr lang="en-US" dirty="0"/>
              <a:t>	</a:t>
            </a:r>
            <a:r>
              <a:rPr lang="en-US" dirty="0" smtClean="0"/>
              <a:t>output f;</a:t>
            </a:r>
          </a:p>
          <a:p>
            <a:r>
              <a:rPr lang="en-US" dirty="0"/>
              <a:t>	</a:t>
            </a:r>
            <a:r>
              <a:rPr lang="en-US" dirty="0" smtClean="0"/>
              <a:t>wire t1, t2; // intermediated lines</a:t>
            </a:r>
          </a:p>
          <a:p>
            <a:r>
              <a:rPr lang="en-US" dirty="0"/>
              <a:t>	</a:t>
            </a:r>
            <a:r>
              <a:rPr lang="en-US" dirty="0" smtClean="0"/>
              <a:t>assign t1 = a &amp;b;</a:t>
            </a:r>
          </a:p>
          <a:p>
            <a:r>
              <a:rPr lang="en-US" dirty="0"/>
              <a:t>	</a:t>
            </a:r>
            <a:r>
              <a:rPr lang="en-US" dirty="0" smtClean="0"/>
              <a:t>assign t2 = ~(c | d);</a:t>
            </a:r>
          </a:p>
          <a:p>
            <a:r>
              <a:rPr lang="en-US" dirty="0"/>
              <a:t>	</a:t>
            </a:r>
            <a:r>
              <a:rPr lang="en-US" dirty="0" smtClean="0"/>
              <a:t>assign f = ~(t1 &amp; t2);</a:t>
            </a:r>
          </a:p>
          <a:p>
            <a:r>
              <a:rPr lang="en-US" dirty="0" err="1" smtClean="0"/>
              <a:t>endmodule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930" y="3605755"/>
            <a:ext cx="3887087" cy="157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61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2716" y="224007"/>
            <a:ext cx="11646568" cy="626226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Lucida Console" panose="020B0609040504020204" pitchFamily="49" charset="0"/>
              </a:rPr>
              <a:t>Data Types in Verilog</a:t>
            </a:r>
            <a:endParaRPr lang="en-IN" sz="3600" dirty="0">
              <a:latin typeface="Lucida Console" panose="020B0609040504020204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2716" y="1179679"/>
            <a:ext cx="11438022" cy="5333415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latin typeface="Lucida Console" panose="020B0609040504020204" pitchFamily="49" charset="0"/>
              </a:rPr>
              <a:t>A variable in Verilog belongs to one of two data types : </a:t>
            </a:r>
          </a:p>
          <a:p>
            <a:pPr algn="l"/>
            <a:r>
              <a:rPr lang="en-US" sz="1800" dirty="0">
                <a:latin typeface="Lucida Console" panose="020B0609040504020204" pitchFamily="49" charset="0"/>
              </a:rPr>
              <a:t>1</a:t>
            </a:r>
            <a:r>
              <a:rPr lang="en-US" sz="1800" dirty="0" smtClean="0">
                <a:latin typeface="Lucida Console" panose="020B0609040504020204" pitchFamily="49" charset="0"/>
              </a:rPr>
              <a:t>. Register</a:t>
            </a:r>
          </a:p>
          <a:p>
            <a:pPr marL="800100" lvl="1" indent="-342900" algn="l">
              <a:buAutoNum type="arabicPeriod"/>
            </a:pPr>
            <a:r>
              <a:rPr lang="en-US" sz="1400" dirty="0" smtClean="0">
                <a:latin typeface="Lucida Console" panose="020B0609040504020204" pitchFamily="49" charset="0"/>
              </a:rPr>
              <a:t>Retains the last value assigned to it</a:t>
            </a:r>
          </a:p>
          <a:p>
            <a:pPr marL="800100" lvl="1" indent="-342900" algn="l">
              <a:buAutoNum type="arabicPeriod"/>
            </a:pPr>
            <a:r>
              <a:rPr lang="en-US" sz="1400" dirty="0" smtClean="0">
                <a:latin typeface="Lucida Console" panose="020B0609040504020204" pitchFamily="49" charset="0"/>
              </a:rPr>
              <a:t>Often used to represent storage elements, but sometimes it can translate to combinational circuits. </a:t>
            </a:r>
          </a:p>
          <a:p>
            <a:pPr algn="l"/>
            <a:r>
              <a:rPr lang="en-US" sz="1800" dirty="0">
                <a:latin typeface="Lucida Console" panose="020B0609040504020204" pitchFamily="49" charset="0"/>
              </a:rPr>
              <a:t>2</a:t>
            </a:r>
            <a:r>
              <a:rPr lang="en-US" sz="1800" dirty="0" smtClean="0">
                <a:latin typeface="Lucida Console" panose="020B0609040504020204" pitchFamily="49" charset="0"/>
              </a:rPr>
              <a:t>. Net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Lucida Console" panose="020B0609040504020204" pitchFamily="49" charset="0"/>
              </a:rPr>
              <a:t>Must be continuously driven.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Lucida Console" panose="020B0609040504020204" pitchFamily="49" charset="0"/>
              </a:rPr>
              <a:t>Cannot be used to store a value.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Lucida Console" panose="020B0609040504020204" pitchFamily="49" charset="0"/>
              </a:rPr>
              <a:t>Used to model connections between continuous assignments and instantiations.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Lucida Console" panose="020B0609040504020204" pitchFamily="49" charset="0"/>
              </a:rPr>
              <a:t>Represents between hardware elements.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Lucida Console" panose="020B0609040504020204" pitchFamily="49" charset="0"/>
              </a:rPr>
              <a:t>Nets are 1 – bit values by default unless they are declared explicitly as vectors ( </a:t>
            </a:r>
            <a:r>
              <a:rPr lang="en-US" sz="1800" b="1" dirty="0" smtClean="0">
                <a:latin typeface="Lucida Console" panose="020B0609040504020204" pitchFamily="49" charset="0"/>
              </a:rPr>
              <a:t>Default value of a net is “z” ) 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Lucida Console" panose="020B0609040504020204" pitchFamily="49" charset="0"/>
              </a:rPr>
              <a:t>Various “Net” data types are supported for synthesis in Verilog: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ucida Console" panose="020B0609040504020204" pitchFamily="49" charset="0"/>
              </a:rPr>
              <a:t>“wire” and “tri” are equivalent, when multiple drivers driving them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ucida Console" panose="020B0609040504020204" pitchFamily="49" charset="0"/>
              </a:rPr>
              <a:t>“war” and “wand” inserts an OR and </a:t>
            </a:r>
            <a:r>
              <a:rPr lang="en-US" sz="1400" dirty="0" err="1" smtClean="0">
                <a:latin typeface="Lucida Console" panose="020B0609040504020204" pitchFamily="49" charset="0"/>
              </a:rPr>
              <a:t>AND</a:t>
            </a:r>
            <a:r>
              <a:rPr lang="en-US" sz="1400" dirty="0" smtClean="0">
                <a:latin typeface="Lucida Console" panose="020B0609040504020204" pitchFamily="49" charset="0"/>
              </a:rPr>
              <a:t> gate respectively at the connection.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Lucida Console" panose="020B0609040504020204" pitchFamily="49" charset="0"/>
              </a:rPr>
              <a:t>“supply0” and “supply1” model power supply connections.</a:t>
            </a:r>
          </a:p>
          <a:p>
            <a:pPr algn="l"/>
            <a:endParaRPr lang="en-US" sz="18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881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16378" y="342502"/>
            <a:ext cx="5598696" cy="898357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>
                <a:latin typeface="Lucida Console" panose="020B0609040504020204" pitchFamily="49" charset="0"/>
              </a:rPr>
              <a:t>For A = B = 1, and C= D= 0,</a:t>
            </a:r>
          </a:p>
          <a:p>
            <a:pPr algn="just"/>
            <a:r>
              <a:rPr lang="en-US" sz="1800" dirty="0" smtClean="0">
                <a:latin typeface="Lucida Console" panose="020B0609040504020204" pitchFamily="49" charset="0"/>
              </a:rPr>
              <a:t>F will be indeterminate.</a:t>
            </a:r>
            <a:endParaRPr lang="en-US" sz="18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0617" y="225196"/>
            <a:ext cx="4385734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use_wire</a:t>
            </a:r>
            <a:r>
              <a:rPr lang="en-US" dirty="0" smtClean="0"/>
              <a:t> (A, B, C, D, f);</a:t>
            </a:r>
          </a:p>
          <a:p>
            <a:r>
              <a:rPr lang="en-US" dirty="0" smtClean="0"/>
              <a:t>	input A, B, C, D;</a:t>
            </a:r>
          </a:p>
          <a:p>
            <a:r>
              <a:rPr lang="en-US" dirty="0" smtClean="0"/>
              <a:t>	output f;</a:t>
            </a:r>
          </a:p>
          <a:p>
            <a:r>
              <a:rPr lang="en-US" dirty="0" smtClean="0"/>
              <a:t>	wire f;    // net f declared as ‘wire’</a:t>
            </a:r>
          </a:p>
          <a:p>
            <a:r>
              <a:rPr lang="en-US" dirty="0" smtClean="0"/>
              <a:t>	assign f = A &amp; B;</a:t>
            </a:r>
          </a:p>
          <a:p>
            <a:r>
              <a:rPr lang="en-US" dirty="0" smtClean="0"/>
              <a:t>	assign f = C | D;</a:t>
            </a:r>
          </a:p>
          <a:p>
            <a:r>
              <a:rPr lang="en-US" dirty="0" err="1" smtClean="0"/>
              <a:t>endmodule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50617" y="2350170"/>
            <a:ext cx="4565761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use_wire</a:t>
            </a:r>
            <a:r>
              <a:rPr lang="en-US" dirty="0" smtClean="0"/>
              <a:t> (A, B, C, D, f);</a:t>
            </a:r>
          </a:p>
          <a:p>
            <a:r>
              <a:rPr lang="en-US" dirty="0" smtClean="0"/>
              <a:t>	input A, B, C, D;</a:t>
            </a:r>
          </a:p>
          <a:p>
            <a:r>
              <a:rPr lang="en-US" dirty="0" smtClean="0"/>
              <a:t>	output f;</a:t>
            </a:r>
          </a:p>
          <a:p>
            <a:r>
              <a:rPr lang="en-US" dirty="0" smtClean="0"/>
              <a:t>	wand f;   // net f declared as ‘wand’</a:t>
            </a:r>
          </a:p>
          <a:p>
            <a:r>
              <a:rPr lang="en-US" dirty="0" smtClean="0"/>
              <a:t>	assign f = A &amp; B;</a:t>
            </a:r>
          </a:p>
          <a:p>
            <a:r>
              <a:rPr lang="en-US" dirty="0" smtClean="0"/>
              <a:t>	assign f = C | D;</a:t>
            </a:r>
          </a:p>
          <a:p>
            <a:r>
              <a:rPr lang="en-US" dirty="0" err="1" smtClean="0"/>
              <a:t>endmodule</a:t>
            </a:r>
            <a:endParaRPr lang="en-IN" dirty="0"/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4716378" y="2398296"/>
            <a:ext cx="4772522" cy="898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 smtClean="0">
                <a:latin typeface="Lucida Console" panose="020B0609040504020204" pitchFamily="49" charset="0"/>
              </a:rPr>
              <a:t>Here, function realized will be </a:t>
            </a:r>
          </a:p>
          <a:p>
            <a:pPr algn="just"/>
            <a:r>
              <a:rPr lang="en-US" sz="1800" dirty="0">
                <a:latin typeface="Lucida Console" panose="020B0609040504020204" pitchFamily="49" charset="0"/>
              </a:rPr>
              <a:t> </a:t>
            </a:r>
            <a:r>
              <a:rPr lang="en-US" sz="1800" dirty="0" smtClean="0">
                <a:latin typeface="Lucida Console" panose="020B0609040504020204" pitchFamily="49" charset="0"/>
              </a:rPr>
              <a:t>    </a:t>
            </a:r>
            <a:r>
              <a:rPr lang="en-US" sz="1800" i="1" dirty="0" smtClean="0">
                <a:latin typeface="Lucida Console" panose="020B0609040504020204" pitchFamily="49" charset="0"/>
              </a:rPr>
              <a:t> f = (A &amp; B ) </a:t>
            </a:r>
            <a:r>
              <a:rPr lang="en-US" sz="1800" b="1" i="1" dirty="0" smtClean="0">
                <a:latin typeface="Lucida Console" panose="020B0609040504020204" pitchFamily="49" charset="0"/>
              </a:rPr>
              <a:t>&amp;</a:t>
            </a:r>
            <a:r>
              <a:rPr lang="en-US" sz="1800" i="1" dirty="0" smtClean="0">
                <a:latin typeface="Lucida Console" panose="020B0609040504020204" pitchFamily="49" charset="0"/>
              </a:rPr>
              <a:t> (C | D)</a:t>
            </a:r>
            <a:endParaRPr lang="en-US" sz="1800" dirty="0">
              <a:latin typeface="Lucida Console" panose="020B06090405040202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179" y="342502"/>
            <a:ext cx="2228623" cy="13475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928" y="2847479"/>
            <a:ext cx="3250292" cy="1356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617" y="4499206"/>
            <a:ext cx="4565761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using_supply_wire</a:t>
            </a:r>
            <a:r>
              <a:rPr lang="en-US" dirty="0" smtClean="0"/>
              <a:t>(A, B, C, D, f);</a:t>
            </a:r>
          </a:p>
          <a:p>
            <a:r>
              <a:rPr lang="en-US" dirty="0" smtClean="0"/>
              <a:t>	input A, B, C, D;</a:t>
            </a:r>
          </a:p>
          <a:p>
            <a:r>
              <a:rPr lang="en-US" dirty="0" smtClean="0"/>
              <a:t>	output f;</a:t>
            </a:r>
          </a:p>
          <a:p>
            <a:r>
              <a:rPr lang="en-US" dirty="0" smtClean="0"/>
              <a:t>	supply0 </a:t>
            </a:r>
            <a:r>
              <a:rPr lang="en-US" dirty="0" err="1" smtClean="0"/>
              <a:t>gnd</a:t>
            </a:r>
            <a:r>
              <a:rPr lang="en-US" dirty="0" smtClean="0"/>
              <a:t>; supply1 </a:t>
            </a:r>
            <a:r>
              <a:rPr lang="en-US" dirty="0" err="1" smtClean="0"/>
              <a:t>vdd</a:t>
            </a:r>
            <a:r>
              <a:rPr lang="en-US" dirty="0" smtClean="0"/>
              <a:t>;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nand</a:t>
            </a:r>
            <a:r>
              <a:rPr lang="en-US" dirty="0" smtClean="0"/>
              <a:t> G1 (t1, </a:t>
            </a:r>
            <a:r>
              <a:rPr lang="en-US" dirty="0" err="1" smtClean="0"/>
              <a:t>vdd</a:t>
            </a:r>
            <a:r>
              <a:rPr lang="en-US" dirty="0" smtClean="0"/>
              <a:t>, A, B);</a:t>
            </a:r>
          </a:p>
          <a:p>
            <a:r>
              <a:rPr lang="en-US" dirty="0"/>
              <a:t>	</a:t>
            </a:r>
            <a:r>
              <a:rPr lang="en-US" dirty="0" err="1" smtClean="0"/>
              <a:t>xor</a:t>
            </a:r>
            <a:r>
              <a:rPr lang="en-US" dirty="0" smtClean="0"/>
              <a:t>     G2 (t2, C, </a:t>
            </a:r>
            <a:r>
              <a:rPr lang="en-US" dirty="0" err="1" smtClean="0"/>
              <a:t>gnd</a:t>
            </a:r>
            <a:r>
              <a:rPr lang="en-US" dirty="0" smtClean="0"/>
              <a:t>);</a:t>
            </a:r>
          </a:p>
          <a:p>
            <a:r>
              <a:rPr lang="en-US" dirty="0"/>
              <a:t>	</a:t>
            </a:r>
            <a:r>
              <a:rPr lang="en-US" dirty="0" smtClean="0"/>
              <a:t>and    G3 (f, t1,t2);</a:t>
            </a:r>
          </a:p>
          <a:p>
            <a:r>
              <a:rPr lang="en-US" dirty="0" err="1" smtClean="0"/>
              <a:t>endmodule</a:t>
            </a:r>
            <a:endParaRPr lang="en-IN" dirty="0"/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4868778" y="5204189"/>
            <a:ext cx="4772522" cy="898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 smtClean="0">
                <a:latin typeface="Lucida Console" panose="020B0609040504020204" pitchFamily="49" charset="0"/>
              </a:rPr>
              <a:t>Supply0 and supply1 have the greatest signal strength</a:t>
            </a:r>
            <a:endParaRPr lang="en-US" sz="18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19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2716" y="224007"/>
            <a:ext cx="11646568" cy="626226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Lucida Console" panose="020B0609040504020204" pitchFamily="49" charset="0"/>
              </a:rPr>
              <a:t>Data Values and Signal Strengths</a:t>
            </a:r>
            <a:endParaRPr lang="en-IN" sz="3600" dirty="0">
              <a:latin typeface="Lucida Console" panose="020B0609040504020204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2716" y="850233"/>
            <a:ext cx="11438022" cy="1419142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latin typeface="Lucida Console" panose="020B0609040504020204" pitchFamily="49" charset="0"/>
              </a:rPr>
              <a:t>Verilog supports </a:t>
            </a:r>
            <a:r>
              <a:rPr lang="en-US" sz="1800" b="1" dirty="0" smtClean="0">
                <a:latin typeface="Lucida Console" panose="020B0609040504020204" pitchFamily="49" charset="0"/>
              </a:rPr>
              <a:t>4 value levels</a:t>
            </a:r>
            <a:r>
              <a:rPr lang="en-US" sz="1800" dirty="0" smtClean="0">
                <a:latin typeface="Lucida Console" panose="020B0609040504020204" pitchFamily="49" charset="0"/>
              </a:rPr>
              <a:t> and </a:t>
            </a:r>
            <a:r>
              <a:rPr lang="en-US" sz="1800" b="1" dirty="0" smtClean="0">
                <a:latin typeface="Lucida Console" panose="020B0609040504020204" pitchFamily="49" charset="0"/>
              </a:rPr>
              <a:t>8 strength levels </a:t>
            </a:r>
            <a:r>
              <a:rPr lang="en-US" sz="1800" dirty="0" smtClean="0">
                <a:latin typeface="Lucida Console" panose="020B0609040504020204" pitchFamily="49" charset="0"/>
              </a:rPr>
              <a:t> to model the functionality of real hardware.</a:t>
            </a:r>
          </a:p>
          <a:p>
            <a:pPr marL="285750" indent="-285750" algn="l">
              <a:buFontTx/>
              <a:buChar char="-"/>
            </a:pPr>
            <a:r>
              <a:rPr lang="en-US" sz="1800" dirty="0" smtClean="0">
                <a:latin typeface="Lucida Console" panose="020B0609040504020204" pitchFamily="49" charset="0"/>
              </a:rPr>
              <a:t>Levels are typically used to resolve conflicts between signal drivers of different strengths in real circuits.</a:t>
            </a:r>
          </a:p>
          <a:p>
            <a:pPr marL="285750" indent="-285750" algn="l">
              <a:buFontTx/>
              <a:buChar char="-"/>
            </a:pPr>
            <a:endParaRPr lang="en-US" sz="1800" b="1" dirty="0" smtClean="0">
              <a:latin typeface="Lucida Console" panose="020B06090405040202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545894"/>
              </p:ext>
            </p:extLst>
          </p:nvPr>
        </p:nvGraphicFramePr>
        <p:xfrm>
          <a:off x="508000" y="2269375"/>
          <a:ext cx="444901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925"/>
                <a:gridCol w="297708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Value</a:t>
                      </a:r>
                      <a:r>
                        <a:rPr lang="en-US" b="0" baseline="0" dirty="0" smtClean="0"/>
                        <a:t> Level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Represents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Logic 0 state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Logic</a:t>
                      </a:r>
                      <a:r>
                        <a:rPr lang="en-US" baseline="0" dirty="0" smtClean="0"/>
                        <a:t> 1 state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Unknown logic states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z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High impedance state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7999" y="4491789"/>
            <a:ext cx="4449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 : Unconnected nets are set to “z” and register variables set to “x”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091291"/>
              </p:ext>
            </p:extLst>
          </p:nvPr>
        </p:nvGraphicFramePr>
        <p:xfrm>
          <a:off x="5681574" y="2245313"/>
          <a:ext cx="444901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925"/>
                <a:gridCol w="297708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 smtClean="0"/>
                        <a:t>Strength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Type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Supply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Driving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Strong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Driving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Pull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Driving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Storage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Driving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Storage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Storage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High impedance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 flipV="1">
            <a:off x="10571747" y="2269375"/>
            <a:ext cx="0" cy="3313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893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564</Words>
  <Application>Microsoft Office PowerPoint</Application>
  <PresentationFormat>Widescreen</PresentationFormat>
  <Paragraphs>113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Calisto MT</vt:lpstr>
      <vt:lpstr>Lucida Console</vt:lpstr>
      <vt:lpstr>Office Theme</vt:lpstr>
      <vt:lpstr>Concept of Verilog “Module”</vt:lpstr>
      <vt:lpstr>PowerPoint Presentation</vt:lpstr>
      <vt:lpstr>Data Types in Verilog</vt:lpstr>
      <vt:lpstr>PowerPoint Presentation</vt:lpstr>
      <vt:lpstr>Data Values and Signal Strengths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9</cp:revision>
  <dcterms:created xsi:type="dcterms:W3CDTF">2025-07-16T17:47:46Z</dcterms:created>
  <dcterms:modified xsi:type="dcterms:W3CDTF">2025-07-16T19:00:48Z</dcterms:modified>
</cp:coreProperties>
</file>